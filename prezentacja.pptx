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46888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Analiza czynników ryzyka choroby serca</a:t>
            </a:r>
          </a:p>
          <a:p>
            <a:pPr algn="ctr"/>
            <a:r>
              <a:rPr sz="1800" b="0" i="1">
                <a:solidFill>
                  <a:srgbClr val="DDE6F2"/>
                </a:solidFill>
                <a:latin typeface="Calibri"/>
              </a:rPr>
              <a:t>Statystyczna analiza zbioru UCI Heart Disease (Cleveland)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Calibri"/>
              </a:rPr>
              <a:t>Michał Wesołowski, Szymon Woźny</a:t>
            </a:r>
          </a:p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Analiza i wizualizacja danych — Pandas, Data Frame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WSB Merito Chorzów · 2025/2026 lato · prow. mgr inż. A. Kowalczuk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Cel i dane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Cel: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statystyczna analiza i wizualizacja czynników ryzyka choroby serca.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Zbiór: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UCI Heart Disease (Cleveland), publiczny, 303 → 297 obserwacji.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Cel modelu: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0 = brak choroby, 1 = choroba (46,1% przypadków).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13 cech klinicznych: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wiek, płeć, typ bólu, ciśnienie, cholesterol, max tętno, dławica, ST…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Narzędzia: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Python — pandas, SciPy, statsmodels, scikit-learn, seaborn.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Metodyka — pytanie → właściwy test → sprawdzenie założeń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RQ1 — cholesterol vs status: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test t Welcha / Mann–Whitney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RQ2 — tętno vs wiek: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korelacja + regresja prosta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RQ3 — predykcja tętna: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regresja wieloraka + VIF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RQ4 — tętno vs typ bólu: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ANOVA + Tukey / Kruskal–Wallis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RQ5 — choroba vs płeć: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chi-kwadrat + test proporcji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RQ6 — prawdopodobieństwo choroby: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regresja logistyczna + ROC/AUC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  <a:latin typeface="Calibri"/>
              </a:rPr>
              <a:t>Każda analiza zawiera weryfikację założeń i — w razie potrzeby — metodę odporną.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Eksploracja i statystyka opisowa</a:t>
            </a:r>
          </a:p>
        </p:txBody>
      </p:sp>
      <p:pic>
        <p:nvPicPr>
          <p:cNvPr id="3" name="Picture 2" descr="01_rozkl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492240" cy="3834772"/>
          </a:xfrm>
          <a:prstGeom prst="rect">
            <a:avLst/>
          </a:prstGeom>
        </p:spPr>
      </p:pic>
      <p:pic>
        <p:nvPicPr>
          <p:cNvPr id="4" name="Picture 3" descr="02_korelac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4663440" cy="410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  <a:latin typeface="Calibri"/>
              </a:rPr>
              <a:t>Rozkłady cech wg statusu choroby oraz korelacje zmiennych ilościowych.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RQ1 — Cholesterol a status choroby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Średnie: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chorzy 251,9 vs zdrowi 243,5 mg/dl.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Założenia: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normalność naruszona (Shapiro p&lt;0,001).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Test t Welcha: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p=0,165 (nieistotny).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Mann–Whitney: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p=0,047, ale efekt znikomy (d=0,16).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Wniosek: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cholesterol słabo różnicuje — wynik zależy od założeń.</a:t>
            </a:r>
          </a:p>
        </p:txBody>
      </p:sp>
      <p:pic>
        <p:nvPicPr>
          <p:cNvPr id="4" name="Picture 3" descr="03_rq1_choleste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754880" cy="3940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RQ2 — Maksymalne tętno a wiek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Korelacja: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Pearson r=−0,40 (p≈1,7·10⁻¹²).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Model: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thalach ≈ 204 − 1,0·age.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Interpretacja: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≈ 1 uderzenie/min mniej na każdy rok.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Jakość: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istotny (F=54,4), ale R²=15,6%.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Wniosek: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tętno maleje z wiekiem → rozszerzamy model (RQ3).</a:t>
            </a:r>
          </a:p>
        </p:txBody>
      </p:sp>
      <p:pic>
        <p:nvPicPr>
          <p:cNvPr id="4" name="Picture 3" descr="04_rq2_regres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94560"/>
            <a:ext cx="5943600" cy="1617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RQ3 — Wieloraka regresja tętna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Model: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thalach ≈ 187 − 0,94·age + 0,15·trestbps − 5,84·oldpeak.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Istotność: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wszystkie predyktory istotne.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Dopasowanie: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skoryg. R²=0,236 (lepiej niż 0,153).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VIF ≈ 1,1: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brak współliniowości.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Diagnostyka: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16 obs. &gt; progu Cooka; oldpeak najsilniejszy.</a:t>
            </a:r>
          </a:p>
        </p:txBody>
      </p:sp>
      <p:pic>
        <p:nvPicPr>
          <p:cNvPr id="4" name="Picture 3" descr="05_rq3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377440"/>
            <a:ext cx="6035040" cy="1897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RQ4 — Tętno a typ bólu w klatce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ANOVA: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F=17,8, p≈1,3·10⁻¹⁰.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Założenia: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Levene p=0,035 → wariancje niejednorodne.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Odporny test: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Kruskal–Wallis p≈2,3·10⁻¹⁰ (zgodny).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Tukey HSD: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typ bezobjawowy cp=4 ma niższe tętno.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Różnica: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ok. 15–22 uderzeń/min względem typów 1–3.</a:t>
            </a:r>
          </a:p>
        </p:txBody>
      </p:sp>
      <p:pic>
        <p:nvPicPr>
          <p:cNvPr id="4" name="Picture 3" descr="06_rq4_an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5120640" cy="3375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RQ5 — Płeć, dławica wysiłkowa a choroba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Płeć: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mężczyźni 55,7% vs kobiety 26,0% chorych.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Test: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chi²=21,9, p≈2,9·10⁻⁶; różnica 30 pkt proc.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Dławica wysiłkowa: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chi²=50,9, p≈9,5·10⁻¹³.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Obserwacja: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~76% osób z dławicą wysiłkową ma chorobę.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Wniosek: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płeć i dławica — silne, proste czynniki ryzyka.</a:t>
            </a:r>
          </a:p>
        </p:txBody>
      </p:sp>
      <p:pic>
        <p:nvPicPr>
          <p:cNvPr id="4" name="Picture 3" descr="07_rq5_proporc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94560"/>
            <a:ext cx="5760720" cy="2198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RQ6 — Model choroby: regresja logistyczna + 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Jakość: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AUC=0,905; walidacja krzyżowa 0,890 ± 0,036.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Stabilność: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brak przeuczenia.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Czynniki (OR):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cp=4 → 8,3; płeć M → 4,6; ca → 2,7; oldpeak → 1,9.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Ochronnie: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wyższe max tętno (OR=0,98).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22222"/>
                </a:solidFill>
                <a:latin typeface="Calibri"/>
              </a:rPr>
              <a:t>Próg 0,5: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 trafność 82%, czułość 75%, swoistość 88%.</a:t>
            </a:r>
          </a:p>
        </p:txBody>
      </p:sp>
      <p:pic>
        <p:nvPicPr>
          <p:cNvPr id="4" name="Picture 3" descr="08_rq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4880" cy="4347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Wnioski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Cholesterol sam w sobie słabo różnicuje chorych — wynik zależy od spełnienia założeń.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Maksymalne tętno maleje z wiekiem i z obniżeniem ST; niskie tętno = wyższe ryzyko.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Bezobjawowy typ bólu (cp=4) = niższe tętno i najwyższe ryzyko choroby.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Najsilniejsze czynniki ryzyka: płeć męska, dławica wysiłkowa, liczba naczyń (ca), oldpeak.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Model logistyczny: AUC ≈ 0,89 w walidacji krzyżowej — wysoka i stabilna predykcja.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Ograniczenia i dalsze kroki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Dane: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historyczne (lata 80.), jeden ośrodek, n≈300.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Charakter: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obserwacyjny — korelacja ≠ przyczynowość.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Diagnostyka: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możliwe pojedyncze obserwacje wpływowe.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477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Dalej: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 pełny zbiór 4 ośrodków, regularyzacja, interakcje (wiek × płeć).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77B"/>
                </a:solidFill>
                <a:latin typeface="Calibri"/>
              </a:rPr>
              <a:t>Dziękujemy za uwagę — 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